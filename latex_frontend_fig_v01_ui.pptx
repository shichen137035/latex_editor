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0E64-4660-5C49-36F4-12EF46C1C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9C48DD-F25C-3F60-BFB1-3AC8B3159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84F54-A5B6-C149-569A-92293973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933BC-A51B-85A6-3F55-92919B6B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399DA-F3A3-6052-55E3-D7595A03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37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7BB6F-522E-A353-21D7-B3567C55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EF2CE-6640-A91F-C908-C004CAE0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202F3-B64F-E191-5F36-C06024B4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0FBFA0-96E0-665C-8895-76D8DEC4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D1F97-FBDD-21A3-E665-F6FABBA4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9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7371-9E72-49A1-5122-92AD7C3C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FFBBAD-A587-5284-034D-31FD319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BAC4B1-75D5-D054-0115-6E413177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B194B-C1BA-6CFD-8C0E-2E26CAC6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DC265-0EDD-27C7-612E-AF78AE62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67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463A8-5693-85D9-0E0F-33D42A51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7E8CD-5CA9-3C60-B3AD-7A971C2DF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993FC1-F895-0CA2-7243-9DB175F29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00499-3B1E-88FC-F391-459FFCB3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47E90-E262-F1DF-D103-C514425C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034655-AA4C-A772-C135-46978845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11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01E0F-203F-7FFD-662F-9D6125DA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C9129-57B2-90FE-5E2E-54CDED27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6705D-5837-81E3-3A4B-5113B0BE9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D05964-62CC-E857-605B-5CD9DD2C4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7877D3-E4A6-59FA-EB9D-0C08F8C21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197373-16C8-719C-9D93-B8FB1D8A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15A96B-5BA4-0AA9-FD89-D569B1C9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89BBA-B361-D560-0FE0-AE248B71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24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33D05-89E7-9E53-EE6D-EBE501AF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634626-DDA2-F5CD-E1C5-A57C747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0EF3F6-9692-8355-45EA-9E445369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9090E2-441A-B550-468A-B097BADC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2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FED6E0-788F-3CCF-093F-59278A33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D8B00A-96D9-115B-E0B3-83A84C33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BC6400-4669-DCB1-160D-BFE02514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398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08059-1EC7-0FDF-47E6-0F36C6EC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2ED6A-6D5E-737D-F47B-D19B485D9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9F33C8-F24F-2D43-A01F-A81A2158D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D29A6D-73AB-B235-9F3C-23BFB07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70B60-DB5A-B80F-6068-4D7DB5CA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B3084C-144F-4311-015D-5AAC95CA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35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F6F30-B078-F443-1CCA-B55FDC8A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9158F7-E7A2-835D-2F48-B25669AA4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132C13-A3B9-534B-2572-936F2E24E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60E6DE-F08A-11A8-5301-3C0E8136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27D54C-22A8-67E3-53D3-AE97420F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B701C-9804-DB19-7F29-89688E22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97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247F4-36B3-E8D1-18D6-10082F0F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8D57C1-76DD-92CD-39C4-31BD5DF29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C54CA-A548-897F-4217-623B363B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8F045-9E69-0E40-AEBF-FB49C893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B306A-BC54-6125-C8E6-B47CF4FD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10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C45927-816C-B697-DF61-F31319D26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F8735-C91C-958E-C7BC-2CD6751D9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20F5A-4CDC-27E1-7DEF-A9D3484E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AB7DE-C335-CE60-A7A7-BDA560BF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312B3-A48A-DF70-FE4A-2B691596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2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4C3FFC-AB82-93C2-358C-479F75D5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5F8890-F621-1BFC-631A-78568E2FF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E6081-EE58-E280-4590-C584B4F5A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4404C-436D-F1E8-2F7B-BE70B1F39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DE074-7E5D-18DA-8A95-598E63302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35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37F6E4-0BBE-B3B7-5D29-8488111CEB5A}"/>
              </a:ext>
            </a:extLst>
          </p:cNvPr>
          <p:cNvSpPr/>
          <p:nvPr/>
        </p:nvSpPr>
        <p:spPr>
          <a:xfrm>
            <a:off x="460268" y="257750"/>
            <a:ext cx="11267372" cy="6149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EFDA72-96C6-B9C5-6CE9-1B72B859B619}"/>
              </a:ext>
            </a:extLst>
          </p:cNvPr>
          <p:cNvSpPr/>
          <p:nvPr/>
        </p:nvSpPr>
        <p:spPr>
          <a:xfrm>
            <a:off x="460268" y="2184741"/>
            <a:ext cx="11267372" cy="6689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31522C8-743C-0970-967D-C63869CCBF5F}"/>
              </a:ext>
            </a:extLst>
          </p:cNvPr>
          <p:cNvSpPr/>
          <p:nvPr/>
        </p:nvSpPr>
        <p:spPr>
          <a:xfrm>
            <a:off x="2976403" y="451063"/>
            <a:ext cx="5909847" cy="902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A3CDBD-DF3A-D6D2-FE37-6C6C2FC2360D}"/>
              </a:ext>
            </a:extLst>
          </p:cNvPr>
          <p:cNvSpPr/>
          <p:nvPr/>
        </p:nvSpPr>
        <p:spPr>
          <a:xfrm>
            <a:off x="595280" y="2368849"/>
            <a:ext cx="251614" cy="25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0B78E8-196C-FB8E-01B5-7109C204D2E4}"/>
              </a:ext>
            </a:extLst>
          </p:cNvPr>
          <p:cNvSpPr txBox="1"/>
          <p:nvPr/>
        </p:nvSpPr>
        <p:spPr>
          <a:xfrm>
            <a:off x="1000316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Project Name</a:t>
            </a:r>
            <a:endParaRPr kumimoji="1" lang="ja-JP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3B4BFC-9E72-4A21-A173-30DF8170E602}"/>
              </a:ext>
            </a:extLst>
          </p:cNvPr>
          <p:cNvSpPr txBox="1"/>
          <p:nvPr/>
        </p:nvSpPr>
        <p:spPr>
          <a:xfrm>
            <a:off x="4883959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Location</a:t>
            </a:r>
            <a:endParaRPr kumimoji="1" lang="ja-JP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4BBF74-5E08-264E-1757-15D44B632CF8}"/>
              </a:ext>
            </a:extLst>
          </p:cNvPr>
          <p:cNvSpPr txBox="1"/>
          <p:nvPr/>
        </p:nvSpPr>
        <p:spPr>
          <a:xfrm>
            <a:off x="8056743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Last Update</a:t>
            </a:r>
            <a:endParaRPr kumimoji="1" lang="ja-JP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18DB77-E738-6822-51EC-51526CACD693}"/>
              </a:ext>
            </a:extLst>
          </p:cNvPr>
          <p:cNvSpPr/>
          <p:nvPr/>
        </p:nvSpPr>
        <p:spPr>
          <a:xfrm>
            <a:off x="527774" y="1632419"/>
            <a:ext cx="3283249" cy="442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Search Projects</a:t>
            </a:r>
            <a:endParaRPr kumimoji="1" lang="ja-JP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83D76D5-C51F-E042-5F67-8F903DB05A1E}"/>
              </a:ext>
            </a:extLst>
          </p:cNvPr>
          <p:cNvSpPr/>
          <p:nvPr/>
        </p:nvSpPr>
        <p:spPr>
          <a:xfrm>
            <a:off x="10144317" y="1632419"/>
            <a:ext cx="1405353" cy="442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+ New</a:t>
            </a:r>
            <a:endParaRPr kumimoji="1" lang="ja-JP" altLang="en-US" dirty="0"/>
          </a:p>
        </p:txBody>
      </p:sp>
      <p:pic>
        <p:nvPicPr>
          <p:cNvPr id="17" name="图形 16" descr="单级齿轮 纯色填充">
            <a:extLst>
              <a:ext uri="{FF2B5EF4-FFF2-40B4-BE49-F238E27FC236}">
                <a16:creationId xmlns:a16="http://schemas.microsoft.com/office/drawing/2014/main" id="{E309033E-152E-9C28-60B3-520B92465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4027" y="302243"/>
            <a:ext cx="914400" cy="914400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D5E57F0-653F-B1E1-98B1-BABE908AF3F8}"/>
              </a:ext>
            </a:extLst>
          </p:cNvPr>
          <p:cNvCxnSpPr>
            <a:cxnSpLocks/>
          </p:cNvCxnSpPr>
          <p:nvPr/>
        </p:nvCxnSpPr>
        <p:spPr>
          <a:xfrm>
            <a:off x="460268" y="3422863"/>
            <a:ext cx="112673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F7B9484-3455-4245-2E38-377425FE0612}"/>
              </a:ext>
            </a:extLst>
          </p:cNvPr>
          <p:cNvSpPr/>
          <p:nvPr/>
        </p:nvSpPr>
        <p:spPr>
          <a:xfrm>
            <a:off x="595280" y="3012457"/>
            <a:ext cx="251614" cy="25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F81A30-165E-F81D-4DCB-BC7F23908522}"/>
              </a:ext>
            </a:extLst>
          </p:cNvPr>
          <p:cNvSpPr txBox="1"/>
          <p:nvPr/>
        </p:nvSpPr>
        <p:spPr>
          <a:xfrm>
            <a:off x="1018726" y="2953598"/>
            <a:ext cx="230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Project 1</a:t>
            </a:r>
            <a:endParaRPr kumimoji="1" lang="ja-JP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203E85-DCBB-81B6-AE95-2622031B8804}"/>
              </a:ext>
            </a:extLst>
          </p:cNvPr>
          <p:cNvSpPr txBox="1"/>
          <p:nvPr/>
        </p:nvSpPr>
        <p:spPr>
          <a:xfrm>
            <a:off x="4526994" y="2943763"/>
            <a:ext cx="265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D:/Documents/Work</a:t>
            </a:r>
            <a:endParaRPr kumimoji="1" lang="ja-JP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1998BB-7ABE-57E6-3479-A000AA5EBFF6}"/>
              </a:ext>
            </a:extLst>
          </p:cNvPr>
          <p:cNvSpPr txBox="1"/>
          <p:nvPr/>
        </p:nvSpPr>
        <p:spPr>
          <a:xfrm>
            <a:off x="8056743" y="2980025"/>
            <a:ext cx="230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 </a:t>
            </a:r>
            <a:r>
              <a:rPr kumimoji="1" lang="en-US" altLang="zh-CN" dirty="0"/>
              <a:t>month ago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5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556111E7-18A8-ED88-C3E7-A55F958D6801}"/>
              </a:ext>
            </a:extLst>
          </p:cNvPr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0D1420"/>
            </a:solidFill>
            <a:ln>
              <a:solidFill>
                <a:srgbClr val="0D14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ectangle 2"/>
            <p:cNvSpPr/>
            <p:nvPr/>
          </p:nvSpPr>
          <p:spPr>
            <a:xfrm>
              <a:off x="0" y="0"/>
              <a:ext cx="12191695" cy="512064"/>
            </a:xfrm>
            <a:prstGeom prst="rect">
              <a:avLst/>
            </a:prstGeom>
            <a:solidFill>
              <a:srgbClr val="141E2E"/>
            </a:solidFill>
            <a:ln>
              <a:solidFill>
                <a:srgbClr val="141E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0" y="512064"/>
              <a:ext cx="12191695" cy="0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146304" y="128016"/>
              <a:ext cx="237744" cy="237744"/>
            </a:xfrm>
            <a:prstGeom prst="roundRect">
              <a:avLst>
                <a:gd name="adj" fmla="val 12000"/>
              </a:avLst>
            </a:prstGeom>
            <a:solidFill>
              <a:srgbClr val="30C977"/>
            </a:solidFill>
            <a:ln>
              <a:solidFill>
                <a:srgbClr val="30C9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6304" y="123444"/>
              <a:ext cx="237744" cy="24688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300" b="1">
                  <a:solidFill>
                    <a:srgbClr val="0D1420"/>
                  </a:solidFill>
                  <a:latin typeface="Aptos"/>
                </a:rPr>
                <a:t>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3776" y="109728"/>
              <a:ext cx="777240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900" b="1">
                  <a:solidFill>
                    <a:srgbClr val="91A1B5"/>
                  </a:solidFill>
                  <a:latin typeface="Aptos"/>
                </a:rPr>
                <a:t>File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109728"/>
              <a:ext cx="841248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900" b="1">
                  <a:solidFill>
                    <a:srgbClr val="91A1B5"/>
                  </a:solidFill>
                  <a:latin typeface="Aptos"/>
                </a:rPr>
                <a:t>Edit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21408" y="109728"/>
              <a:ext cx="896112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900" b="1">
                  <a:solidFill>
                    <a:srgbClr val="91A1B5"/>
                  </a:solidFill>
                  <a:latin typeface="Aptos"/>
                </a:rPr>
                <a:t>View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99232" y="109728"/>
              <a:ext cx="1024128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900" b="1">
                  <a:solidFill>
                    <a:srgbClr val="91A1B5"/>
                  </a:solidFill>
                  <a:latin typeface="Aptos"/>
                </a:rPr>
                <a:t>Project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83480" y="100584"/>
              <a:ext cx="1874519" cy="28346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100" b="1">
                  <a:solidFill>
                    <a:srgbClr val="E5EDF7"/>
                  </a:solidFill>
                  <a:latin typeface="Aptos"/>
                </a:rPr>
                <a:t>PPAR Paper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39712" y="100584"/>
              <a:ext cx="237744" cy="28346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200" b="0">
                  <a:solidFill>
                    <a:srgbClr val="91A1B5"/>
                  </a:solidFill>
                  <a:latin typeface="Aptos"/>
                </a:rPr>
                <a:t>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1119104" y="100584"/>
              <a:ext cx="786384" cy="310896"/>
            </a:xfrm>
            <a:prstGeom prst="roundRect">
              <a:avLst>
                <a:gd name="adj" fmla="val 12000"/>
              </a:avLst>
            </a:prstGeom>
            <a:solidFill>
              <a:srgbClr val="30C977"/>
            </a:solidFill>
            <a:ln>
              <a:solidFill>
                <a:srgbClr val="30C9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512064"/>
              <a:ext cx="429768" cy="6345936"/>
            </a:xfrm>
            <a:prstGeom prst="rect">
              <a:avLst/>
            </a:prstGeom>
            <a:solidFill>
              <a:srgbClr val="141E2E"/>
            </a:solidFill>
            <a:ln>
              <a:solidFill>
                <a:srgbClr val="141E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29768" y="512064"/>
              <a:ext cx="0" cy="6345936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4008" y="694944"/>
              <a:ext cx="301752" cy="356616"/>
            </a:xfrm>
            <a:prstGeom prst="roundRect">
              <a:avLst>
                <a:gd name="adj" fmla="val 12000"/>
              </a:avLst>
            </a:prstGeom>
            <a:solidFill>
              <a:srgbClr val="125C41"/>
            </a:solidFill>
            <a:ln>
              <a:solidFill>
                <a:srgbClr val="125C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008" y="731519"/>
              <a:ext cx="301752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400" b="1">
                  <a:solidFill>
                    <a:srgbClr val="30C977"/>
                  </a:solidFill>
                  <a:latin typeface="Aptos"/>
                </a:rPr>
                <a:t>▤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08" y="1178441"/>
              <a:ext cx="301752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91A1B5"/>
                  </a:solidFill>
                  <a:latin typeface="Aptos"/>
                </a:rPr>
                <a:t>⌕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048" y="1580777"/>
              <a:ext cx="301752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91A1B5"/>
                  </a:solidFill>
                  <a:latin typeface="Aptos"/>
                </a:rPr>
                <a:t>◈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109728" y="6062472"/>
              <a:ext cx="210312" cy="0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4008" y="6172200"/>
              <a:ext cx="301752" cy="23774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100" b="1">
                  <a:solidFill>
                    <a:srgbClr val="91A1B5"/>
                  </a:solidFill>
                  <a:latin typeface="Aptos"/>
                </a:rPr>
                <a:t>?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9768" y="512064"/>
              <a:ext cx="2450592" cy="6345936"/>
            </a:xfrm>
            <a:prstGeom prst="rect">
              <a:avLst/>
            </a:prstGeom>
            <a:solidFill>
              <a:srgbClr val="141E2E"/>
            </a:solidFill>
            <a:ln>
              <a:solidFill>
                <a:srgbClr val="141E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880360" y="512064"/>
              <a:ext cx="0" cy="6345936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2459736" y="713232"/>
              <a:ext cx="228600" cy="228600"/>
            </a:xfrm>
            <a:prstGeom prst="roundRect">
              <a:avLst>
                <a:gd name="adj" fmla="val 12000"/>
              </a:avLst>
            </a:prstGeom>
            <a:solidFill>
              <a:srgbClr val="1F2D43"/>
            </a:solidFill>
            <a:ln>
              <a:solidFill>
                <a:srgbClr val="1F2D4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59736" y="693694"/>
              <a:ext cx="228600" cy="2585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91A1B5"/>
                  </a:solidFill>
                  <a:latin typeface="Aptos"/>
                </a:rPr>
                <a:t>x</a:t>
              </a:r>
              <a:endParaRPr sz="1200" b="1" dirty="0">
                <a:solidFill>
                  <a:srgbClr val="91A1B5"/>
                </a:solidFill>
                <a:latin typeface="Aptos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88054" y="2775771"/>
              <a:ext cx="1965960" cy="347472"/>
            </a:xfrm>
            <a:prstGeom prst="roundRect">
              <a:avLst>
                <a:gd name="adj" fmla="val 12000"/>
              </a:avLst>
            </a:prstGeom>
            <a:solidFill>
              <a:srgbClr val="1F2D43"/>
            </a:solidFill>
            <a:ln>
              <a:solidFill>
                <a:srgbClr val="1F2D4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94620" y="2766627"/>
              <a:ext cx="950976" cy="310896"/>
            </a:xfrm>
            <a:prstGeom prst="roundRect">
              <a:avLst>
                <a:gd name="adj" fmla="val 12000"/>
              </a:avLst>
            </a:prstGeom>
            <a:solidFill>
              <a:srgbClr val="30C977"/>
            </a:solidFill>
            <a:ln>
              <a:solidFill>
                <a:srgbClr val="30C9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2919" y="2794359"/>
              <a:ext cx="950976" cy="26517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50" b="1" dirty="0" err="1">
                  <a:solidFill>
                    <a:srgbClr val="0D1420"/>
                  </a:solidFill>
                  <a:latin typeface="Aptos"/>
                </a:rPr>
                <a:t>目录</a:t>
              </a:r>
              <a:endParaRPr sz="850" b="1" dirty="0">
                <a:solidFill>
                  <a:srgbClr val="0D1420"/>
                </a:solidFill>
                <a:latin typeface="Aptos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639614" y="2801701"/>
              <a:ext cx="950976" cy="26517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50" b="1" dirty="0" err="1">
                  <a:solidFill>
                    <a:srgbClr val="91A1B5"/>
                  </a:solidFill>
                  <a:latin typeface="Aptos"/>
                </a:rPr>
                <a:t>关系块</a:t>
              </a:r>
              <a:endParaRPr sz="850" b="1" dirty="0">
                <a:solidFill>
                  <a:srgbClr val="91A1B5"/>
                </a:solidFill>
                <a:latin typeface="Apto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7514" y="702953"/>
              <a:ext cx="914400" cy="21945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720" b="1">
                  <a:solidFill>
                    <a:srgbClr val="5B6D85"/>
                  </a:solidFill>
                  <a:latin typeface="Aptos"/>
                </a:rPr>
                <a:t>FILES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862538" y="675521"/>
              <a:ext cx="237744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400" b="1">
                  <a:solidFill>
                    <a:srgbClr val="30C977"/>
                  </a:solidFill>
                  <a:latin typeface="Aptos"/>
                </a:rPr>
                <a:t>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127714" y="684664"/>
              <a:ext cx="219456" cy="23774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200" b="1">
                  <a:solidFill>
                    <a:srgbClr val="91A1B5"/>
                  </a:solidFill>
                  <a:latin typeface="Aptos"/>
                </a:rPr>
                <a:t>⌕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527514" y="995561"/>
              <a:ext cx="2066544" cy="0"/>
            </a:xfrm>
            <a:prstGeom prst="line">
              <a:avLst/>
            </a:prstGeom>
            <a:ln w="889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463506" y="1077857"/>
              <a:ext cx="2185416" cy="292608"/>
            </a:xfrm>
            <a:prstGeom prst="roundRect">
              <a:avLst>
                <a:gd name="adj" fmla="val 12000"/>
              </a:avLst>
            </a:prstGeom>
            <a:solidFill>
              <a:srgbClr val="125C41"/>
            </a:solidFill>
            <a:ln>
              <a:solidFill>
                <a:srgbClr val="125C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91522" y="1123577"/>
              <a:ext cx="164592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00" b="1">
                  <a:solidFill>
                    <a:srgbClr val="91A1B5"/>
                  </a:solidFill>
                  <a:latin typeface="Aptos"/>
                </a:rPr>
                <a:t>⌄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4402" y="1114433"/>
              <a:ext cx="22860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000" b="1">
                  <a:solidFill>
                    <a:srgbClr val="30C977"/>
                  </a:solidFill>
                  <a:latin typeface="Aptos"/>
                </a:rPr>
                <a:t>▰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8722" y="1114433"/>
              <a:ext cx="1463040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69" b="1">
                  <a:solidFill>
                    <a:srgbClr val="E5EDF7"/>
                  </a:solidFill>
                  <a:latin typeface="Aptos"/>
                </a:rPr>
                <a:t>main.tex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1522" y="1489337"/>
              <a:ext cx="164592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4402" y="1480193"/>
              <a:ext cx="22860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000" b="1">
                  <a:solidFill>
                    <a:srgbClr val="5B6D85"/>
                  </a:solidFill>
                  <a:latin typeface="Aptos"/>
                </a:rPr>
                <a:t>▱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722" y="1480193"/>
              <a:ext cx="1463040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69" b="0">
                  <a:solidFill>
                    <a:srgbClr val="91A1B5"/>
                  </a:solidFill>
                  <a:latin typeface="Aptos"/>
                </a:rPr>
                <a:t>reference.bib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91522" y="1855097"/>
              <a:ext cx="164592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74402" y="1845953"/>
              <a:ext cx="22860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000" b="1">
                  <a:solidFill>
                    <a:srgbClr val="5B6D85"/>
                  </a:solidFill>
                  <a:latin typeface="Aptos"/>
                </a:rPr>
                <a:t>▱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48722" y="1845953"/>
              <a:ext cx="1463040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69" b="0">
                  <a:solidFill>
                    <a:srgbClr val="91A1B5"/>
                  </a:solidFill>
                  <a:latin typeface="Aptos"/>
                </a:rPr>
                <a:t>chapters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91522" y="2220857"/>
              <a:ext cx="164592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74402" y="2211713"/>
              <a:ext cx="22860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000" b="1">
                  <a:solidFill>
                    <a:srgbClr val="5B6D85"/>
                  </a:solidFill>
                  <a:latin typeface="Aptos"/>
                </a:rPr>
                <a:t>▱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048722" y="2211713"/>
              <a:ext cx="1463040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69" b="0">
                  <a:solidFill>
                    <a:srgbClr val="91A1B5"/>
                  </a:solidFill>
                  <a:latin typeface="Aptos"/>
                </a:rPr>
                <a:t>figures</a:t>
              </a:r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518922" y="2653693"/>
              <a:ext cx="2066544" cy="0"/>
            </a:xfrm>
            <a:prstGeom prst="line">
              <a:avLst/>
            </a:prstGeom>
            <a:ln w="889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658859" y="3256882"/>
              <a:ext cx="1920240" cy="21945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 dirty="0">
                  <a:solidFill>
                    <a:srgbClr val="91A1B5"/>
                  </a:solidFill>
                  <a:latin typeface="Aptos"/>
                </a:rPr>
                <a:t>▾  Introduction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7241" y="3514947"/>
              <a:ext cx="1783080" cy="21945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770" b="0" dirty="0">
                  <a:solidFill>
                    <a:srgbClr val="5B6D85"/>
                  </a:solidFill>
                  <a:latin typeface="Aptos"/>
                </a:rPr>
                <a:t>Notation and motivation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880360" y="512064"/>
              <a:ext cx="4663440" cy="6345936"/>
            </a:xfrm>
            <a:prstGeom prst="rect">
              <a:avLst/>
            </a:prstGeom>
            <a:solidFill>
              <a:srgbClr val="0D1420"/>
            </a:solidFill>
            <a:ln>
              <a:solidFill>
                <a:srgbClr val="0D142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880360" y="512064"/>
              <a:ext cx="4663440" cy="438912"/>
            </a:xfrm>
            <a:prstGeom prst="rect">
              <a:avLst/>
            </a:prstGeom>
            <a:solidFill>
              <a:srgbClr val="141E2E"/>
            </a:solidFill>
            <a:ln>
              <a:solidFill>
                <a:srgbClr val="141E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3054096" y="585216"/>
              <a:ext cx="1225296" cy="292608"/>
            </a:xfrm>
            <a:prstGeom prst="roundRect">
              <a:avLst>
                <a:gd name="adj" fmla="val 12000"/>
              </a:avLst>
            </a:prstGeom>
            <a:solidFill>
              <a:srgbClr val="0D1420"/>
            </a:solidFill>
            <a:ln>
              <a:solidFill>
                <a:srgbClr val="3040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172968" y="621792"/>
              <a:ext cx="786384" cy="19202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50" b="1">
                  <a:solidFill>
                    <a:srgbClr val="E5EDF7"/>
                  </a:solidFill>
                  <a:latin typeface="Aptos"/>
                </a:rPr>
                <a:t>▱  main.tex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53712" y="621792"/>
              <a:ext cx="155448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900" b="1">
                  <a:solidFill>
                    <a:srgbClr val="91A1B5"/>
                  </a:solidFill>
                  <a:latin typeface="Aptos"/>
                </a:rPr>
                <a:t>×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74920" y="621792"/>
              <a:ext cx="1078992" cy="19202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30" b="0">
                  <a:solidFill>
                    <a:srgbClr val="91A1B5"/>
                  </a:solidFill>
                  <a:latin typeface="Aptos"/>
                </a:rPr>
                <a:t>reference.bib</a:t>
              </a:r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2880360" y="950976"/>
              <a:ext cx="4663440" cy="0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3136392" y="1069848"/>
              <a:ext cx="219456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300" b="1">
                  <a:solidFill>
                    <a:srgbClr val="91A1B5"/>
                  </a:solidFill>
                  <a:latin typeface="Aptos"/>
                </a:rPr>
                <a:t>↶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29000" y="1069848"/>
              <a:ext cx="219456" cy="21031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300" b="1">
                  <a:solidFill>
                    <a:srgbClr val="91A1B5"/>
                  </a:solidFill>
                  <a:latin typeface="Aptos"/>
                </a:rPr>
                <a:t>↷</a:t>
              </a: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3749039" y="1060704"/>
              <a:ext cx="0" cy="210312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913632" y="1078992"/>
              <a:ext cx="566928" cy="17373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0" b="1">
                  <a:solidFill>
                    <a:srgbClr val="91A1B5"/>
                  </a:solidFill>
                  <a:latin typeface="Aptos"/>
                </a:rPr>
                <a:t>LaTeX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800600" y="1078992"/>
              <a:ext cx="676656" cy="17373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0" b="0">
                  <a:solidFill>
                    <a:srgbClr val="91A1B5"/>
                  </a:solidFill>
                  <a:latin typeface="Aptos"/>
                </a:rPr>
                <a:t>⌕ Find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669280" y="1078992"/>
              <a:ext cx="640080" cy="17373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0" b="0">
                  <a:solidFill>
                    <a:srgbClr val="91A1B5"/>
                  </a:solidFill>
                  <a:latin typeface="Aptos"/>
                </a:rPr>
                <a:t>Aa  100%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6675120" y="1014984"/>
              <a:ext cx="640080" cy="274320"/>
            </a:xfrm>
            <a:prstGeom prst="roundRect">
              <a:avLst>
                <a:gd name="adj" fmla="val 12000"/>
              </a:avLst>
            </a:prstGeom>
            <a:solidFill>
              <a:srgbClr val="125C41"/>
            </a:solidFill>
            <a:ln>
              <a:solidFill>
                <a:srgbClr val="30C9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675120" y="1024128"/>
              <a:ext cx="640080" cy="256031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50" b="1">
                  <a:solidFill>
                    <a:srgbClr val="30C977"/>
                  </a:solidFill>
                  <a:latin typeface="Aptos"/>
                </a:rPr>
                <a:t>Save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2880360" y="1399032"/>
              <a:ext cx="4663440" cy="0"/>
            </a:xfrm>
            <a:prstGeom prst="line">
              <a:avLst/>
            </a:prstGeom>
            <a:ln w="762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3081528" y="1572768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547872" y="1572768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\documentclass{article}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081528" y="1796795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547872" y="1796795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endParaRPr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081528" y="2020824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03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547872" y="2020824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\title{Consistency and Predictive Performance}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081528" y="2244852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04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547872" y="2244852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\author{Author Name}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081528" y="2468880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05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547872" y="2468880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\date{\today}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081528" y="2692908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06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547872" y="2692908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081528" y="2916936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07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547872" y="2916936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\begin{document}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081528" y="3140964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08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547872" y="3140964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081528" y="3364992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09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547872" y="3364992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E5EDF7"/>
                  </a:solidFill>
                  <a:latin typeface="Consolas"/>
                </a:rPr>
                <a:t>  \maketitle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081528" y="3589020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547872" y="3589020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559DFF"/>
                  </a:solidFill>
                  <a:latin typeface="Consolas"/>
                </a:rPr>
                <a:t>  \begin{abstract}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081528" y="3813048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11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547872" y="3813048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E5EDF7"/>
                  </a:solidFill>
                  <a:latin typeface="Consolas"/>
                </a:rPr>
                <a:t>    We study predictive performance of projection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081528" y="4037076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547872" y="4037076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E5EDF7"/>
                  </a:solidFill>
                  <a:latin typeface="Consolas"/>
                </a:rPr>
                <a:t>    pursuit autoregressive models.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081528" y="4261104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547872" y="4261104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559DFF"/>
                  </a:solidFill>
                  <a:latin typeface="Consolas"/>
                </a:rPr>
                <a:t>  \end{abstract}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81528" y="4485132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14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547872" y="4485132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endParaRPr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081528" y="4709160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47872" y="4709160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559DFF"/>
                  </a:solidFill>
                  <a:latin typeface="Consolas"/>
                </a:rPr>
                <a:t>  \section{Introduction}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081528" y="4933188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16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547872" y="4933188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E5EDF7"/>
                  </a:solidFill>
                  <a:latin typeface="Consolas"/>
                </a:rPr>
                <a:t>  Nonlinear prediction for a stationary time series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81528" y="5157216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17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547872" y="5157216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E5EDF7"/>
                  </a:solidFill>
                  <a:latin typeface="Consolas"/>
                </a:rPr>
                <a:t>  is naturally formulated through its conditional mean.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081528" y="5381244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18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547872" y="5381244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endParaRPr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081528" y="5605272"/>
              <a:ext cx="310896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30" b="0">
                  <a:solidFill>
                    <a:srgbClr val="5B6D85"/>
                  </a:solidFill>
                  <a:latin typeface="Consolas"/>
                </a:rPr>
                <a:t>19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547872" y="5605272"/>
              <a:ext cx="3749039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30C977"/>
                  </a:solidFill>
                  <a:latin typeface="Consolas"/>
                </a:rPr>
                <a:t>\end{document}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145536" y="6272784"/>
              <a:ext cx="109728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720" b="0">
                  <a:solidFill>
                    <a:srgbClr val="5B6D85"/>
                  </a:solidFill>
                  <a:latin typeface="Consolas"/>
                </a:rPr>
                <a:t>Ln 15, Col 3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72784" y="6272784"/>
              <a:ext cx="100584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20" b="0">
                  <a:solidFill>
                    <a:srgbClr val="5B6D85"/>
                  </a:solidFill>
                  <a:latin typeface="Aptos"/>
                </a:rPr>
                <a:t>UTF-8  •  LF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543800" y="512064"/>
              <a:ext cx="4647895" cy="6345936"/>
            </a:xfrm>
            <a:prstGeom prst="rect">
              <a:avLst/>
            </a:prstGeom>
            <a:solidFill>
              <a:srgbClr val="141E2E"/>
            </a:solidFill>
            <a:ln>
              <a:solidFill>
                <a:srgbClr val="141E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19" name="Connector 118"/>
            <p:cNvCxnSpPr/>
            <p:nvPr/>
          </p:nvCxnSpPr>
          <p:spPr>
            <a:xfrm>
              <a:off x="7543800" y="512064"/>
              <a:ext cx="0" cy="6345936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119"/>
            <p:cNvSpPr/>
            <p:nvPr/>
          </p:nvSpPr>
          <p:spPr>
            <a:xfrm>
              <a:off x="7543800" y="512064"/>
              <a:ext cx="4647895" cy="438912"/>
            </a:xfrm>
            <a:prstGeom prst="rect">
              <a:avLst/>
            </a:prstGeom>
            <a:solidFill>
              <a:srgbClr val="192538"/>
            </a:solidFill>
            <a:ln>
              <a:solidFill>
                <a:srgbClr val="1925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7754112" y="594360"/>
              <a:ext cx="987552" cy="274320"/>
            </a:xfrm>
            <a:prstGeom prst="roundRect">
              <a:avLst>
                <a:gd name="adj" fmla="val 12000"/>
              </a:avLst>
            </a:prstGeom>
            <a:solidFill>
              <a:srgbClr val="30C977"/>
            </a:solidFill>
            <a:ln>
              <a:solidFill>
                <a:srgbClr val="30C9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754112" y="603504"/>
              <a:ext cx="987552" cy="256031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50" b="1">
                  <a:solidFill>
                    <a:srgbClr val="0D1420"/>
                  </a:solidFill>
                  <a:latin typeface="Aptos"/>
                </a:rPr>
                <a:t>Compile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400032" y="621792"/>
              <a:ext cx="512064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819" b="0">
                  <a:solidFill>
                    <a:srgbClr val="91A1B5"/>
                  </a:solidFill>
                  <a:latin typeface="Aptos"/>
                </a:rPr>
                <a:t>1 / 37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0396728" y="621792"/>
              <a:ext cx="237744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100" b="1">
                  <a:solidFill>
                    <a:srgbClr val="91A1B5"/>
                  </a:solidFill>
                  <a:latin typeface="Aptos"/>
                </a:rPr>
                <a:t>−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0744200" y="621792"/>
              <a:ext cx="237744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100" b="1">
                  <a:solidFill>
                    <a:srgbClr val="91A1B5"/>
                  </a:solidFill>
                  <a:latin typeface="Aptos"/>
                </a:rPr>
                <a:t>+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1173968" y="621792"/>
              <a:ext cx="640080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19" b="1">
                  <a:solidFill>
                    <a:srgbClr val="91A1B5"/>
                  </a:solidFill>
                  <a:latin typeface="Aptos"/>
                </a:rPr>
                <a:t>Fit</a:t>
              </a:r>
            </a:p>
          </p:txBody>
        </p:sp>
        <p:cxnSp>
          <p:nvCxnSpPr>
            <p:cNvPr id="128" name="Connector 127"/>
            <p:cNvCxnSpPr/>
            <p:nvPr/>
          </p:nvCxnSpPr>
          <p:spPr>
            <a:xfrm>
              <a:off x="7543800" y="950976"/>
              <a:ext cx="4647895" cy="0"/>
            </a:xfrm>
            <a:prstGeom prst="line">
              <a:avLst/>
            </a:prstGeom>
            <a:ln w="10160">
              <a:solidFill>
                <a:srgbClr val="3040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>
              <a:off x="7946136" y="1225296"/>
              <a:ext cx="3803904" cy="5111496"/>
            </a:xfrm>
            <a:prstGeom prst="roundRect">
              <a:avLst>
                <a:gd name="adj" fmla="val 12000"/>
              </a:avLst>
            </a:prstGeom>
            <a:solidFill>
              <a:srgbClr val="F7F8FA"/>
            </a:solidFill>
            <a:ln>
              <a:solidFill>
                <a:srgbClr val="F7F8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302752" y="1645920"/>
              <a:ext cx="3108960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300" b="1">
                  <a:solidFill>
                    <a:srgbClr val="2C333D"/>
                  </a:solidFill>
                  <a:latin typeface="Georgia"/>
                </a:rPr>
                <a:t>Consistency and Predictive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302752" y="1920240"/>
              <a:ext cx="3108960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300" b="1">
                  <a:solidFill>
                    <a:srgbClr val="2C333D"/>
                  </a:solidFill>
                  <a:latin typeface="Georgia"/>
                </a:rPr>
                <a:t>Performance of Projection Pursuit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8302752" y="2212848"/>
              <a:ext cx="3108960" cy="21945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1100" b="0">
                  <a:solidFill>
                    <a:srgbClr val="2C333D"/>
                  </a:solidFill>
                  <a:latin typeface="Georgia"/>
                </a:rPr>
                <a:t>Autoregressive Models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302752" y="2670048"/>
              <a:ext cx="3108960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30" b="1">
                  <a:solidFill>
                    <a:srgbClr val="2C333D"/>
                  </a:solidFill>
                  <a:latin typeface="Georgia"/>
                </a:rPr>
                <a:t>Author Name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8302752" y="2907792"/>
              <a:ext cx="31089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650" b="0">
                  <a:solidFill>
                    <a:srgbClr val="2C333D"/>
                  </a:solidFill>
                  <a:latin typeface="Georgia"/>
                </a:rPr>
                <a:t>Department of Pure and Applied Mathematics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302752" y="3127248"/>
              <a:ext cx="3108960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650" b="0">
                  <a:solidFill>
                    <a:srgbClr val="2C333D"/>
                  </a:solidFill>
                  <a:latin typeface="Georgia"/>
                </a:rPr>
                <a:t>Tokyo, Japan</a:t>
              </a:r>
            </a:p>
          </p:txBody>
        </p:sp>
        <p:cxnSp>
          <p:nvCxnSpPr>
            <p:cNvPr id="136" name="Connector 135"/>
            <p:cNvCxnSpPr/>
            <p:nvPr/>
          </p:nvCxnSpPr>
          <p:spPr>
            <a:xfrm>
              <a:off x="8385048" y="3547872"/>
              <a:ext cx="2926080" cy="0"/>
            </a:xfrm>
            <a:prstGeom prst="line">
              <a:avLst/>
            </a:prstGeom>
            <a:ln w="6350">
              <a:solidFill>
                <a:srgbClr val="CDD2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8302752" y="3712463"/>
              <a:ext cx="3108960" cy="182880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850" b="1">
                  <a:solidFill>
                    <a:srgbClr val="2C333D"/>
                  </a:solidFill>
                  <a:latin typeface="Georgia"/>
                </a:rPr>
                <a:t>Abstract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293608" y="4041648"/>
              <a:ext cx="3127248" cy="658368"/>
            </a:xfrm>
            <a:prstGeom prst="rect">
              <a:avLst/>
            </a:prstGeom>
            <a:noFill/>
          </p:spPr>
          <p:txBody>
            <a:bodyPr wrap="square" tIns="91440" bIns="91440" anchor="t">
              <a:spAutoFit/>
            </a:bodyPr>
            <a:lstStyle/>
            <a:p>
              <a:pPr algn="l"/>
              <a:r>
                <a:rPr sz="720" b="0">
                  <a:solidFill>
                    <a:srgbClr val="2C333D"/>
                  </a:solidFill>
                  <a:latin typeface="Georgia"/>
                </a:rPr>
                <a:t>We study predictive performance of projection pursuit autoregressive models and discuss their consistency.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8302752" y="4956048"/>
              <a:ext cx="3108960" cy="201168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919" b="1">
                  <a:solidFill>
                    <a:srgbClr val="2C333D"/>
                  </a:solidFill>
                  <a:latin typeface="Georgia"/>
                </a:rPr>
                <a:t>1    Introduction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8293608" y="5285232"/>
              <a:ext cx="3127248" cy="475488"/>
            </a:xfrm>
            <a:prstGeom prst="rect">
              <a:avLst/>
            </a:prstGeom>
            <a:noFill/>
          </p:spPr>
          <p:txBody>
            <a:bodyPr wrap="square" tIns="91440" bIns="91440" anchor="t">
              <a:spAutoFit/>
            </a:bodyPr>
            <a:lstStyle/>
            <a:p>
              <a:pPr algn="l"/>
              <a:r>
                <a:rPr sz="720" b="0">
                  <a:solidFill>
                    <a:srgbClr val="2C333D"/>
                  </a:solidFill>
                  <a:latin typeface="Georgia"/>
                </a:rPr>
                <a:t>Nonlinear prediction for a stationary time series is naturally formulated through its conditional mean.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9564624" y="5998464"/>
              <a:ext cx="566928" cy="164592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ctr"/>
              <a:r>
                <a:rPr sz="700" b="0">
                  <a:solidFill>
                    <a:srgbClr val="2C333D"/>
                  </a:solidFill>
                  <a:latin typeface="Georgia"/>
                </a:rPr>
                <a:t>1</a:t>
              </a:r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662672" y="6492240"/>
              <a:ext cx="4187952" cy="201168"/>
            </a:xfrm>
            <a:prstGeom prst="roundRect">
              <a:avLst>
                <a:gd name="adj" fmla="val 12000"/>
              </a:avLst>
            </a:prstGeom>
            <a:solidFill>
              <a:srgbClr val="125C41"/>
            </a:solidFill>
            <a:ln>
              <a:solidFill>
                <a:srgbClr val="125C4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7790688" y="6492240"/>
              <a:ext cx="2377440" cy="19202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l"/>
              <a:r>
                <a:rPr sz="720" b="1">
                  <a:solidFill>
                    <a:srgbClr val="30C977"/>
                  </a:solidFill>
                  <a:latin typeface="Aptos"/>
                </a:rPr>
                <a:t>✓  Last compile succeeded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0351008" y="6492240"/>
              <a:ext cx="1325880" cy="192024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700" b="0">
                  <a:solidFill>
                    <a:srgbClr val="91A1B5"/>
                  </a:solidFill>
                  <a:latin typeface="Aptos"/>
                </a:rPr>
                <a:t>0 errors · 2 warnings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066695" y="156109"/>
              <a:ext cx="658368" cy="212366"/>
            </a:xfrm>
            <a:prstGeom prst="rect">
              <a:avLst/>
            </a:prstGeom>
            <a:noFill/>
          </p:spPr>
          <p:txBody>
            <a:bodyPr wrap="square" lIns="36576" tIns="36576" rIns="36576" bIns="36576" anchor="ctr">
              <a:spAutoFit/>
            </a:bodyPr>
            <a:lstStyle/>
            <a:p>
              <a:pPr algn="r"/>
              <a:r>
                <a:rPr sz="900" b="0" dirty="0">
                  <a:latin typeface="Aptos"/>
                </a:rPr>
                <a:t>Saved</a:t>
              </a:r>
            </a:p>
          </p:txBody>
        </p:sp>
      </p:grpSp>
      <p:pic>
        <p:nvPicPr>
          <p:cNvPr id="148" name="图形 147" descr="文档 纯色填充">
            <a:extLst>
              <a:ext uri="{FF2B5EF4-FFF2-40B4-BE49-F238E27FC236}">
                <a16:creationId xmlns:a16="http://schemas.microsoft.com/office/drawing/2014/main" id="{3E02EB8D-6C2A-7593-E795-098DF042E1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2269" y="559995"/>
            <a:ext cx="329857" cy="32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254</Words>
  <Application>Microsoft Office PowerPoint</Application>
  <PresentationFormat>宽屏</PresentationFormat>
  <Paragraphs>100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Aptos</vt:lpstr>
      <vt:lpstr>Arial</vt:lpstr>
      <vt:lpstr>Consolas</vt:lpstr>
      <vt:lpstr>Georgia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F2451C0518</dc:creator>
  <cp:lastModifiedBy>F2451C0518</cp:lastModifiedBy>
  <cp:revision>3</cp:revision>
  <dcterms:created xsi:type="dcterms:W3CDTF">2026-09-17T08:35:30Z</dcterms:created>
  <dcterms:modified xsi:type="dcterms:W3CDTF">2026-09-17T12:33:13Z</dcterms:modified>
</cp:coreProperties>
</file>